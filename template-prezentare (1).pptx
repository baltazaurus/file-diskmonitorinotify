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4" r:id="rId6"/>
    <p:sldId id="265" r:id="rId7"/>
    <p:sldId id="270" r:id="rId8"/>
    <p:sldId id="271" r:id="rId9"/>
    <p:sldId id="267" r:id="rId10"/>
    <p:sldId id="268" r:id="rId11"/>
    <p:sldId id="269" r:id="rId12"/>
  </p:sldIdLst>
  <p:sldSz cx="12192000" cy="6858000"/>
  <p:notesSz cx="7559675" cy="1069149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customXml" Target="../customXml/item3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8388" y="745440"/>
            <a:ext cx="8132227" cy="3559859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308" y="4669316"/>
            <a:ext cx="8132227" cy="13504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E3B7B-C7B5-42CF-90CF-67B3D21B2314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138" y="2243708"/>
            <a:ext cx="9156288" cy="3776091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0137" y="838201"/>
            <a:ext cx="9156289" cy="140550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7AEB6-FCE1-4CD5-923B-84E54F1460D5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97" y="750627"/>
            <a:ext cx="10846556" cy="130415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56961" y="2075250"/>
            <a:ext cx="4571288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9560" y="2075250"/>
            <a:ext cx="4770191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4C2F-71A1-43C9-B2F6-A4FAC8157F1A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649" y="743803"/>
            <a:ext cx="10764271" cy="102536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6961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56961" y="2678597"/>
            <a:ext cx="4571287" cy="35067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8633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98633" y="2678596"/>
            <a:ext cx="4571287" cy="350670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1DCC-9916-4BB7-A2E9-25EC84C740A7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387" y="757766"/>
            <a:ext cx="7240293" cy="3547534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9146A-335D-4B7F-86AE-5D483B1F631C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D8EC-8E17-4CE6-99C2-C22488572868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395" y="766636"/>
            <a:ext cx="3951745" cy="151062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5400" y="702452"/>
            <a:ext cx="6249988" cy="531734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3953" y="2277264"/>
            <a:ext cx="3752747" cy="37425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0ABA-DFFA-4B13-BB77-624D9164A38B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972" y="765850"/>
            <a:ext cx="3995693" cy="177477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05400" y="838200"/>
            <a:ext cx="6249988" cy="51815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0137" y="2552699"/>
            <a:ext cx="3736563" cy="3467099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/>
          <a:lstStyle/>
          <a:p>
            <a:fld id="{3220A08F-2B1D-4498-A043-7C299B1C2561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387" y="757451"/>
            <a:ext cx="10875953" cy="121465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5467" y="1972101"/>
            <a:ext cx="10848873" cy="404769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D9902-F134-45BD-ABD2-80C28059B0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59496" y="755981"/>
            <a:ext cx="2277552" cy="5338369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755981"/>
            <a:ext cx="8230086" cy="533836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04DB0-379A-41B7-9B29-7F42F0D571D5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8387" y="620202"/>
            <a:ext cx="9956747" cy="14387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467" y="2306781"/>
            <a:ext cx="9956747" cy="3870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0137" y="63202"/>
            <a:ext cx="2743200" cy="318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567E9B64-DC09-41C8-9DE3-DA74AF8D2F9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344016" y="6424761"/>
            <a:ext cx="4059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03951" y="6425816"/>
            <a:ext cx="4297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E91CC32-6A6B-4E2E-BBA1-6864F305DA26}" type="slidenum">
              <a:rPr lang="en-US" dirty="0"/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CustomShape 1"/>
          <p:cNvSpPr/>
          <p:nvPr/>
        </p:nvSpPr>
        <p:spPr>
          <a:xfrm>
            <a:off x="979594" y="862183"/>
            <a:ext cx="10132440" cy="2820788"/>
          </a:xfrm>
          <a:custGeom>
            <a:avLst/>
            <a:gdLst>
              <a:gd name="csX0" fmla="*/ 0 w 10132440"/>
              <a:gd name="csY0" fmla="*/ 0 h 2820788"/>
              <a:gd name="csX1" fmla="*/ 574172 w 10132440"/>
              <a:gd name="csY1" fmla="*/ 0 h 2820788"/>
              <a:gd name="csX2" fmla="*/ 1047019 w 10132440"/>
              <a:gd name="csY2" fmla="*/ 0 h 2820788"/>
              <a:gd name="csX3" fmla="*/ 1519866 w 10132440"/>
              <a:gd name="csY3" fmla="*/ 0 h 2820788"/>
              <a:gd name="csX4" fmla="*/ 1891389 w 10132440"/>
              <a:gd name="csY4" fmla="*/ 0 h 2820788"/>
              <a:gd name="csX5" fmla="*/ 2262912 w 10132440"/>
              <a:gd name="csY5" fmla="*/ 0 h 2820788"/>
              <a:gd name="csX6" fmla="*/ 2634434 w 10132440"/>
              <a:gd name="csY6" fmla="*/ 0 h 2820788"/>
              <a:gd name="csX7" fmla="*/ 3411255 w 10132440"/>
              <a:gd name="csY7" fmla="*/ 0 h 2820788"/>
              <a:gd name="csX8" fmla="*/ 3782778 w 10132440"/>
              <a:gd name="csY8" fmla="*/ 0 h 2820788"/>
              <a:gd name="csX9" fmla="*/ 4255625 w 10132440"/>
              <a:gd name="csY9" fmla="*/ 0 h 2820788"/>
              <a:gd name="csX10" fmla="*/ 4728472 w 10132440"/>
              <a:gd name="csY10" fmla="*/ 0 h 2820788"/>
              <a:gd name="csX11" fmla="*/ 5606617 w 10132440"/>
              <a:gd name="csY11" fmla="*/ 0 h 2820788"/>
              <a:gd name="csX12" fmla="*/ 5978140 w 10132440"/>
              <a:gd name="csY12" fmla="*/ 0 h 2820788"/>
              <a:gd name="csX13" fmla="*/ 6349662 w 10132440"/>
              <a:gd name="csY13" fmla="*/ 0 h 2820788"/>
              <a:gd name="csX14" fmla="*/ 7227807 w 10132440"/>
              <a:gd name="csY14" fmla="*/ 0 h 2820788"/>
              <a:gd name="csX15" fmla="*/ 7700654 w 10132440"/>
              <a:gd name="csY15" fmla="*/ 0 h 2820788"/>
              <a:gd name="csX16" fmla="*/ 8274826 w 10132440"/>
              <a:gd name="csY16" fmla="*/ 0 h 2820788"/>
              <a:gd name="csX17" fmla="*/ 9152971 w 10132440"/>
              <a:gd name="csY17" fmla="*/ 0 h 2820788"/>
              <a:gd name="csX18" fmla="*/ 10132440 w 10132440"/>
              <a:gd name="csY18" fmla="*/ 0 h 2820788"/>
              <a:gd name="csX19" fmla="*/ 10132440 w 10132440"/>
              <a:gd name="csY19" fmla="*/ 620573 h 2820788"/>
              <a:gd name="csX20" fmla="*/ 10132440 w 10132440"/>
              <a:gd name="csY20" fmla="*/ 1128315 h 2820788"/>
              <a:gd name="csX21" fmla="*/ 10132440 w 10132440"/>
              <a:gd name="csY21" fmla="*/ 1636057 h 2820788"/>
              <a:gd name="csX22" fmla="*/ 10132440 w 10132440"/>
              <a:gd name="csY22" fmla="*/ 2115591 h 2820788"/>
              <a:gd name="csX23" fmla="*/ 10132440 w 10132440"/>
              <a:gd name="csY23" fmla="*/ 2820788 h 2820788"/>
              <a:gd name="csX24" fmla="*/ 9254295 w 10132440"/>
              <a:gd name="csY24" fmla="*/ 2820788 h 2820788"/>
              <a:gd name="csX25" fmla="*/ 8477475 w 10132440"/>
              <a:gd name="csY25" fmla="*/ 2820788 h 2820788"/>
              <a:gd name="csX26" fmla="*/ 7599330 w 10132440"/>
              <a:gd name="csY26" fmla="*/ 2820788 h 2820788"/>
              <a:gd name="csX27" fmla="*/ 7126483 w 10132440"/>
              <a:gd name="csY27" fmla="*/ 2820788 h 2820788"/>
              <a:gd name="csX28" fmla="*/ 6248338 w 10132440"/>
              <a:gd name="csY28" fmla="*/ 2820788 h 2820788"/>
              <a:gd name="csX29" fmla="*/ 5876815 w 10132440"/>
              <a:gd name="csY29" fmla="*/ 2820788 h 2820788"/>
              <a:gd name="csX30" fmla="*/ 5505292 w 10132440"/>
              <a:gd name="csY30" fmla="*/ 2820788 h 2820788"/>
              <a:gd name="csX31" fmla="*/ 4728472 w 10132440"/>
              <a:gd name="csY31" fmla="*/ 2820788 h 2820788"/>
              <a:gd name="csX32" fmla="*/ 4356949 w 10132440"/>
              <a:gd name="csY32" fmla="*/ 2820788 h 2820788"/>
              <a:gd name="csX33" fmla="*/ 3782778 w 10132440"/>
              <a:gd name="csY33" fmla="*/ 2820788 h 2820788"/>
              <a:gd name="csX34" fmla="*/ 3411255 w 10132440"/>
              <a:gd name="csY34" fmla="*/ 2820788 h 2820788"/>
              <a:gd name="csX35" fmla="*/ 3039732 w 10132440"/>
              <a:gd name="csY35" fmla="*/ 2820788 h 2820788"/>
              <a:gd name="csX36" fmla="*/ 2262912 w 10132440"/>
              <a:gd name="csY36" fmla="*/ 2820788 h 2820788"/>
              <a:gd name="csX37" fmla="*/ 1486091 w 10132440"/>
              <a:gd name="csY37" fmla="*/ 2820788 h 2820788"/>
              <a:gd name="csX38" fmla="*/ 607946 w 10132440"/>
              <a:gd name="csY38" fmla="*/ 2820788 h 2820788"/>
              <a:gd name="csX39" fmla="*/ 0 w 10132440"/>
              <a:gd name="csY39" fmla="*/ 2820788 h 2820788"/>
              <a:gd name="csX40" fmla="*/ 0 w 10132440"/>
              <a:gd name="csY40" fmla="*/ 2313046 h 2820788"/>
              <a:gd name="csX41" fmla="*/ 0 w 10132440"/>
              <a:gd name="csY41" fmla="*/ 1720681 h 2820788"/>
              <a:gd name="csX42" fmla="*/ 0 w 10132440"/>
              <a:gd name="csY42" fmla="*/ 1184731 h 2820788"/>
              <a:gd name="csX43" fmla="*/ 0 w 10132440"/>
              <a:gd name="csY43" fmla="*/ 648781 h 2820788"/>
              <a:gd name="csX44" fmla="*/ 0 w 10132440"/>
              <a:gd name="csY44" fmla="*/ 0 h 28207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</a:cxnLst>
            <a:rect l="l" t="t" r="r" b="b"/>
            <a:pathLst>
              <a:path w="10132440" h="2820788" extrusionOk="0">
                <a:moveTo>
                  <a:pt x="0" y="0"/>
                </a:moveTo>
                <a:cubicBezTo>
                  <a:pt x="181500" y="4586"/>
                  <a:pt x="318597" y="-12493"/>
                  <a:pt x="574172" y="0"/>
                </a:cubicBezTo>
                <a:cubicBezTo>
                  <a:pt x="829747" y="12493"/>
                  <a:pt x="868302" y="-20908"/>
                  <a:pt x="1047019" y="0"/>
                </a:cubicBezTo>
                <a:cubicBezTo>
                  <a:pt x="1225736" y="20908"/>
                  <a:pt x="1387660" y="19588"/>
                  <a:pt x="1519866" y="0"/>
                </a:cubicBezTo>
                <a:cubicBezTo>
                  <a:pt x="1652072" y="-19588"/>
                  <a:pt x="1755667" y="832"/>
                  <a:pt x="1891389" y="0"/>
                </a:cubicBezTo>
                <a:cubicBezTo>
                  <a:pt x="2027111" y="-832"/>
                  <a:pt x="2092058" y="-14475"/>
                  <a:pt x="2262912" y="0"/>
                </a:cubicBezTo>
                <a:cubicBezTo>
                  <a:pt x="2433766" y="14475"/>
                  <a:pt x="2505222" y="-11069"/>
                  <a:pt x="2634434" y="0"/>
                </a:cubicBezTo>
                <a:cubicBezTo>
                  <a:pt x="2763646" y="11069"/>
                  <a:pt x="3060580" y="20616"/>
                  <a:pt x="3411255" y="0"/>
                </a:cubicBezTo>
                <a:cubicBezTo>
                  <a:pt x="3761930" y="-20616"/>
                  <a:pt x="3708036" y="-2205"/>
                  <a:pt x="3782778" y="0"/>
                </a:cubicBezTo>
                <a:cubicBezTo>
                  <a:pt x="3857520" y="2205"/>
                  <a:pt x="4025909" y="2841"/>
                  <a:pt x="4255625" y="0"/>
                </a:cubicBezTo>
                <a:cubicBezTo>
                  <a:pt x="4485341" y="-2841"/>
                  <a:pt x="4627358" y="7225"/>
                  <a:pt x="4728472" y="0"/>
                </a:cubicBezTo>
                <a:cubicBezTo>
                  <a:pt x="4829586" y="-7225"/>
                  <a:pt x="5231274" y="40607"/>
                  <a:pt x="5606617" y="0"/>
                </a:cubicBezTo>
                <a:cubicBezTo>
                  <a:pt x="5981961" y="-40607"/>
                  <a:pt x="5871209" y="-5678"/>
                  <a:pt x="5978140" y="0"/>
                </a:cubicBezTo>
                <a:cubicBezTo>
                  <a:pt x="6085071" y="5678"/>
                  <a:pt x="6218839" y="12944"/>
                  <a:pt x="6349662" y="0"/>
                </a:cubicBezTo>
                <a:cubicBezTo>
                  <a:pt x="6480485" y="-12944"/>
                  <a:pt x="6949417" y="32570"/>
                  <a:pt x="7227807" y="0"/>
                </a:cubicBezTo>
                <a:cubicBezTo>
                  <a:pt x="7506198" y="-32570"/>
                  <a:pt x="7478678" y="16059"/>
                  <a:pt x="7700654" y="0"/>
                </a:cubicBezTo>
                <a:cubicBezTo>
                  <a:pt x="7922630" y="-16059"/>
                  <a:pt x="8119630" y="1164"/>
                  <a:pt x="8274826" y="0"/>
                </a:cubicBezTo>
                <a:cubicBezTo>
                  <a:pt x="8430022" y="-1164"/>
                  <a:pt x="8869015" y="8690"/>
                  <a:pt x="9152971" y="0"/>
                </a:cubicBezTo>
                <a:cubicBezTo>
                  <a:pt x="9436928" y="-8690"/>
                  <a:pt x="9805797" y="-39816"/>
                  <a:pt x="10132440" y="0"/>
                </a:cubicBezTo>
                <a:cubicBezTo>
                  <a:pt x="10144316" y="199064"/>
                  <a:pt x="10110612" y="363332"/>
                  <a:pt x="10132440" y="620573"/>
                </a:cubicBezTo>
                <a:cubicBezTo>
                  <a:pt x="10154268" y="877814"/>
                  <a:pt x="10116225" y="970775"/>
                  <a:pt x="10132440" y="1128315"/>
                </a:cubicBezTo>
                <a:cubicBezTo>
                  <a:pt x="10148655" y="1285855"/>
                  <a:pt x="10156426" y="1465755"/>
                  <a:pt x="10132440" y="1636057"/>
                </a:cubicBezTo>
                <a:cubicBezTo>
                  <a:pt x="10108454" y="1806359"/>
                  <a:pt x="10113397" y="1964497"/>
                  <a:pt x="10132440" y="2115591"/>
                </a:cubicBezTo>
                <a:cubicBezTo>
                  <a:pt x="10151483" y="2266685"/>
                  <a:pt x="10155586" y="2586494"/>
                  <a:pt x="10132440" y="2820788"/>
                </a:cubicBezTo>
                <a:cubicBezTo>
                  <a:pt x="9702547" y="2810122"/>
                  <a:pt x="9546834" y="2851898"/>
                  <a:pt x="9254295" y="2820788"/>
                </a:cubicBezTo>
                <a:cubicBezTo>
                  <a:pt x="8961757" y="2789678"/>
                  <a:pt x="8685071" y="2792384"/>
                  <a:pt x="8477475" y="2820788"/>
                </a:cubicBezTo>
                <a:cubicBezTo>
                  <a:pt x="8269879" y="2849192"/>
                  <a:pt x="7852840" y="2825480"/>
                  <a:pt x="7599330" y="2820788"/>
                </a:cubicBezTo>
                <a:cubicBezTo>
                  <a:pt x="7345820" y="2816096"/>
                  <a:pt x="7289145" y="2820363"/>
                  <a:pt x="7126483" y="2820788"/>
                </a:cubicBezTo>
                <a:cubicBezTo>
                  <a:pt x="6963821" y="2821213"/>
                  <a:pt x="6612679" y="2821151"/>
                  <a:pt x="6248338" y="2820788"/>
                </a:cubicBezTo>
                <a:cubicBezTo>
                  <a:pt x="5883998" y="2820425"/>
                  <a:pt x="5951197" y="2811344"/>
                  <a:pt x="5876815" y="2820788"/>
                </a:cubicBezTo>
                <a:cubicBezTo>
                  <a:pt x="5802433" y="2830232"/>
                  <a:pt x="5666478" y="2803848"/>
                  <a:pt x="5505292" y="2820788"/>
                </a:cubicBezTo>
                <a:cubicBezTo>
                  <a:pt x="5344106" y="2837728"/>
                  <a:pt x="5099493" y="2851172"/>
                  <a:pt x="4728472" y="2820788"/>
                </a:cubicBezTo>
                <a:cubicBezTo>
                  <a:pt x="4357451" y="2790404"/>
                  <a:pt x="4479961" y="2830358"/>
                  <a:pt x="4356949" y="2820788"/>
                </a:cubicBezTo>
                <a:cubicBezTo>
                  <a:pt x="4233937" y="2811218"/>
                  <a:pt x="3999469" y="2798115"/>
                  <a:pt x="3782778" y="2820788"/>
                </a:cubicBezTo>
                <a:cubicBezTo>
                  <a:pt x="3566087" y="2843461"/>
                  <a:pt x="3504577" y="2820429"/>
                  <a:pt x="3411255" y="2820788"/>
                </a:cubicBezTo>
                <a:cubicBezTo>
                  <a:pt x="3317933" y="2821147"/>
                  <a:pt x="3202713" y="2833321"/>
                  <a:pt x="3039732" y="2820788"/>
                </a:cubicBezTo>
                <a:cubicBezTo>
                  <a:pt x="2876751" y="2808255"/>
                  <a:pt x="2534299" y="2802820"/>
                  <a:pt x="2262912" y="2820788"/>
                </a:cubicBezTo>
                <a:cubicBezTo>
                  <a:pt x="1991525" y="2838756"/>
                  <a:pt x="1748625" y="2822446"/>
                  <a:pt x="1486091" y="2820788"/>
                </a:cubicBezTo>
                <a:cubicBezTo>
                  <a:pt x="1223557" y="2819130"/>
                  <a:pt x="934386" y="2826827"/>
                  <a:pt x="607946" y="2820788"/>
                </a:cubicBezTo>
                <a:cubicBezTo>
                  <a:pt x="281506" y="2814749"/>
                  <a:pt x="226647" y="2800329"/>
                  <a:pt x="0" y="2820788"/>
                </a:cubicBezTo>
                <a:cubicBezTo>
                  <a:pt x="-9100" y="2696768"/>
                  <a:pt x="8114" y="2432788"/>
                  <a:pt x="0" y="2313046"/>
                </a:cubicBezTo>
                <a:cubicBezTo>
                  <a:pt x="-8114" y="2193304"/>
                  <a:pt x="-17730" y="1997032"/>
                  <a:pt x="0" y="1720681"/>
                </a:cubicBezTo>
                <a:cubicBezTo>
                  <a:pt x="17730" y="1444331"/>
                  <a:pt x="23365" y="1440520"/>
                  <a:pt x="0" y="1184731"/>
                </a:cubicBezTo>
                <a:cubicBezTo>
                  <a:pt x="-23365" y="928942"/>
                  <a:pt x="-22634" y="828860"/>
                  <a:pt x="0" y="648781"/>
                </a:cubicBezTo>
                <a:cubicBezTo>
                  <a:pt x="22634" y="468702"/>
                  <a:pt x="-20124" y="189177"/>
                  <a:pt x="0" y="0"/>
                </a:cubicBezTo>
                <a:close/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ctr"/>
            <a:r>
              <a:rPr lang="en-US" sz="5400" spc="-1" dirty="0" err="1">
                <a:uFill>
                  <a:solidFill>
                    <a:srgbClr val="FFFFFF"/>
                  </a:solidFill>
                </a:uFill>
                <a:cs typeface="Arial" panose="020B0604020202020204"/>
              </a:rPr>
              <a:t>File&amp;DiskUsage</a:t>
            </a:r>
            <a:r>
              <a:rPr lang="en-US" sz="5400" spc="-1" dirty="0" err="1"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MonitorInotify</a:t>
            </a:r>
            <a:endParaRPr lang="en-US" sz="5400" spc="-1" dirty="0" err="1">
              <a:uFill>
                <a:solidFill>
                  <a:srgbClr val="FFFFFF"/>
                </a:solidFill>
              </a:uFill>
              <a:cs typeface="Arial" panose="020B0604020202020204"/>
            </a:endParaRPr>
          </a:p>
          <a:p>
            <a:pPr algn="ctr"/>
            <a:endParaRPr lang="en-US" dirty="0"/>
          </a:p>
          <a:p>
            <a:pPr algn="ctr"/>
            <a:endParaRPr lang="en-US" sz="2400" spc="-1" dirty="0">
              <a:uFill>
                <a:solidFill>
                  <a:srgbClr val="FFFFFF"/>
                </a:solidFill>
              </a:uFill>
              <a:ea typeface="+mn-lt"/>
              <a:cs typeface="+mn-lt"/>
            </a:endParaRPr>
          </a:p>
          <a:p>
            <a:pPr marL="342900" indent="-342900" algn="ctr">
              <a:buFont typeface="Arial" panose="020B0604020202020204"/>
              <a:buChar char="•"/>
            </a:pPr>
            <a:r>
              <a:rPr lang="en-US" sz="2400" spc="-1"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Dragomir Matei</a:t>
            </a:r>
            <a:endParaRPr lang="en-US"/>
          </a:p>
          <a:p>
            <a:pPr marL="342900" indent="-342900" algn="ctr">
              <a:buFont typeface="Arial" panose="020B0604020202020204"/>
              <a:buChar char="•"/>
            </a:pPr>
            <a:r>
              <a:rPr lang="en-US" sz="2400" spc="-1">
                <a:uFill>
                  <a:solidFill>
                    <a:srgbClr val="FFFFFF"/>
                  </a:solidFill>
                </a:uFill>
                <a:cs typeface="Arial" panose="020B0604020202020204"/>
              </a:rPr>
              <a:t>Ion Ovidiu Mihai</a:t>
            </a:r>
            <a:endParaRPr lang="en-US" sz="2400" spc="-1">
              <a:uFill>
                <a:solidFill>
                  <a:srgbClr val="FFFFFF"/>
                </a:solidFill>
              </a:uFill>
              <a:cs typeface="Arial" panose="020B0604020202020204"/>
            </a:endParaRPr>
          </a:p>
        </p:txBody>
      </p:sp>
      <p:sp>
        <p:nvSpPr>
          <p:cNvPr id="73" name="CustomShape 2"/>
          <p:cNvSpPr/>
          <p:nvPr/>
        </p:nvSpPr>
        <p:spPr>
          <a:xfrm>
            <a:off x="1523880" y="4537691"/>
            <a:ext cx="9141840" cy="1653480"/>
          </a:xfrm>
          <a:custGeom>
            <a:avLst/>
            <a:gdLst>
              <a:gd name="csX0" fmla="*/ 0 w 9141840"/>
              <a:gd name="csY0" fmla="*/ 0 h 1653480"/>
              <a:gd name="csX1" fmla="*/ 297110 w 9141840"/>
              <a:gd name="csY1" fmla="*/ 0 h 1653480"/>
              <a:gd name="csX2" fmla="*/ 868475 w 9141840"/>
              <a:gd name="csY2" fmla="*/ 0 h 1653480"/>
              <a:gd name="csX3" fmla="*/ 1257003 w 9141840"/>
              <a:gd name="csY3" fmla="*/ 0 h 1653480"/>
              <a:gd name="csX4" fmla="*/ 1736950 w 9141840"/>
              <a:gd name="csY4" fmla="*/ 0 h 1653480"/>
              <a:gd name="csX5" fmla="*/ 2125478 w 9141840"/>
              <a:gd name="csY5" fmla="*/ 0 h 1653480"/>
              <a:gd name="csX6" fmla="*/ 2788261 w 9141840"/>
              <a:gd name="csY6" fmla="*/ 0 h 1653480"/>
              <a:gd name="csX7" fmla="*/ 3268208 w 9141840"/>
              <a:gd name="csY7" fmla="*/ 0 h 1653480"/>
              <a:gd name="csX8" fmla="*/ 3839573 w 9141840"/>
              <a:gd name="csY8" fmla="*/ 0 h 1653480"/>
              <a:gd name="csX9" fmla="*/ 4410938 w 9141840"/>
              <a:gd name="csY9" fmla="*/ 0 h 1653480"/>
              <a:gd name="csX10" fmla="*/ 4799466 w 9141840"/>
              <a:gd name="csY10" fmla="*/ 0 h 1653480"/>
              <a:gd name="csX11" fmla="*/ 5279413 w 9141840"/>
              <a:gd name="csY11" fmla="*/ 0 h 1653480"/>
              <a:gd name="csX12" fmla="*/ 5667941 w 9141840"/>
              <a:gd name="csY12" fmla="*/ 0 h 1653480"/>
              <a:gd name="csX13" fmla="*/ 6330724 w 9141840"/>
              <a:gd name="csY13" fmla="*/ 0 h 1653480"/>
              <a:gd name="csX14" fmla="*/ 6993508 w 9141840"/>
              <a:gd name="csY14" fmla="*/ 0 h 1653480"/>
              <a:gd name="csX15" fmla="*/ 7290617 w 9141840"/>
              <a:gd name="csY15" fmla="*/ 0 h 1653480"/>
              <a:gd name="csX16" fmla="*/ 7953401 w 9141840"/>
              <a:gd name="csY16" fmla="*/ 0 h 1653480"/>
              <a:gd name="csX17" fmla="*/ 8433347 w 9141840"/>
              <a:gd name="csY17" fmla="*/ 0 h 1653480"/>
              <a:gd name="csX18" fmla="*/ 9141840 w 9141840"/>
              <a:gd name="csY18" fmla="*/ 0 h 1653480"/>
              <a:gd name="csX19" fmla="*/ 9141840 w 9141840"/>
              <a:gd name="csY19" fmla="*/ 551160 h 1653480"/>
              <a:gd name="csX20" fmla="*/ 9141840 w 9141840"/>
              <a:gd name="csY20" fmla="*/ 1102320 h 1653480"/>
              <a:gd name="csX21" fmla="*/ 9141840 w 9141840"/>
              <a:gd name="csY21" fmla="*/ 1653480 h 1653480"/>
              <a:gd name="csX22" fmla="*/ 8753312 w 9141840"/>
              <a:gd name="csY22" fmla="*/ 1653480 h 1653480"/>
              <a:gd name="csX23" fmla="*/ 8273365 w 9141840"/>
              <a:gd name="csY23" fmla="*/ 1653480 h 1653480"/>
              <a:gd name="csX24" fmla="*/ 7793419 w 9141840"/>
              <a:gd name="csY24" fmla="*/ 1653480 h 1653480"/>
              <a:gd name="csX25" fmla="*/ 7313472 w 9141840"/>
              <a:gd name="csY25" fmla="*/ 1653480 h 1653480"/>
              <a:gd name="csX26" fmla="*/ 6924944 w 9141840"/>
              <a:gd name="csY26" fmla="*/ 1653480 h 1653480"/>
              <a:gd name="csX27" fmla="*/ 6170742 w 9141840"/>
              <a:gd name="csY27" fmla="*/ 1653480 h 1653480"/>
              <a:gd name="csX28" fmla="*/ 5416540 w 9141840"/>
              <a:gd name="csY28" fmla="*/ 1653480 h 1653480"/>
              <a:gd name="csX29" fmla="*/ 5119430 w 9141840"/>
              <a:gd name="csY29" fmla="*/ 1653480 h 1653480"/>
              <a:gd name="csX30" fmla="*/ 4548065 w 9141840"/>
              <a:gd name="csY30" fmla="*/ 1653480 h 1653480"/>
              <a:gd name="csX31" fmla="*/ 4250956 w 9141840"/>
              <a:gd name="csY31" fmla="*/ 1653480 h 1653480"/>
              <a:gd name="csX32" fmla="*/ 3588172 w 9141840"/>
              <a:gd name="csY32" fmla="*/ 1653480 h 1653480"/>
              <a:gd name="csX33" fmla="*/ 3199644 w 9141840"/>
              <a:gd name="csY33" fmla="*/ 1653480 h 1653480"/>
              <a:gd name="csX34" fmla="*/ 2628279 w 9141840"/>
              <a:gd name="csY34" fmla="*/ 1653480 h 1653480"/>
              <a:gd name="csX35" fmla="*/ 2331169 w 9141840"/>
              <a:gd name="csY35" fmla="*/ 1653480 h 1653480"/>
              <a:gd name="csX36" fmla="*/ 1851223 w 9141840"/>
              <a:gd name="csY36" fmla="*/ 1653480 h 1653480"/>
              <a:gd name="csX37" fmla="*/ 1097021 w 9141840"/>
              <a:gd name="csY37" fmla="*/ 1653480 h 1653480"/>
              <a:gd name="csX38" fmla="*/ 617074 w 9141840"/>
              <a:gd name="csY38" fmla="*/ 1653480 h 1653480"/>
              <a:gd name="csX39" fmla="*/ 0 w 9141840"/>
              <a:gd name="csY39" fmla="*/ 1653480 h 1653480"/>
              <a:gd name="csX40" fmla="*/ 0 w 9141840"/>
              <a:gd name="csY40" fmla="*/ 1085785 h 1653480"/>
              <a:gd name="csX41" fmla="*/ 0 w 9141840"/>
              <a:gd name="csY41" fmla="*/ 567695 h 1653480"/>
              <a:gd name="csX42" fmla="*/ 0 w 9141840"/>
              <a:gd name="csY42" fmla="*/ 0 h 16534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9141840" h="1653480" extrusionOk="0">
                <a:moveTo>
                  <a:pt x="0" y="0"/>
                </a:moveTo>
                <a:cubicBezTo>
                  <a:pt x="67399" y="-26512"/>
                  <a:pt x="190740" y="12155"/>
                  <a:pt x="297110" y="0"/>
                </a:cubicBezTo>
                <a:cubicBezTo>
                  <a:pt x="403480" y="-12155"/>
                  <a:pt x="673281" y="40434"/>
                  <a:pt x="868475" y="0"/>
                </a:cubicBezTo>
                <a:cubicBezTo>
                  <a:pt x="1063670" y="-40434"/>
                  <a:pt x="1082059" y="18515"/>
                  <a:pt x="1257003" y="0"/>
                </a:cubicBezTo>
                <a:cubicBezTo>
                  <a:pt x="1431947" y="-18515"/>
                  <a:pt x="1598175" y="17396"/>
                  <a:pt x="1736950" y="0"/>
                </a:cubicBezTo>
                <a:cubicBezTo>
                  <a:pt x="1875725" y="-17396"/>
                  <a:pt x="1982371" y="7909"/>
                  <a:pt x="2125478" y="0"/>
                </a:cubicBezTo>
                <a:cubicBezTo>
                  <a:pt x="2268585" y="-7909"/>
                  <a:pt x="2547739" y="61307"/>
                  <a:pt x="2788261" y="0"/>
                </a:cubicBezTo>
                <a:cubicBezTo>
                  <a:pt x="3028783" y="-61307"/>
                  <a:pt x="3138695" y="32035"/>
                  <a:pt x="3268208" y="0"/>
                </a:cubicBezTo>
                <a:cubicBezTo>
                  <a:pt x="3397721" y="-32035"/>
                  <a:pt x="3590725" y="5358"/>
                  <a:pt x="3839573" y="0"/>
                </a:cubicBezTo>
                <a:cubicBezTo>
                  <a:pt x="4088421" y="-5358"/>
                  <a:pt x="4188836" y="3966"/>
                  <a:pt x="4410938" y="0"/>
                </a:cubicBezTo>
                <a:cubicBezTo>
                  <a:pt x="4633041" y="-3966"/>
                  <a:pt x="4717457" y="27044"/>
                  <a:pt x="4799466" y="0"/>
                </a:cubicBezTo>
                <a:cubicBezTo>
                  <a:pt x="4881475" y="-27044"/>
                  <a:pt x="5107773" y="44599"/>
                  <a:pt x="5279413" y="0"/>
                </a:cubicBezTo>
                <a:cubicBezTo>
                  <a:pt x="5451053" y="-44599"/>
                  <a:pt x="5475902" y="23918"/>
                  <a:pt x="5667941" y="0"/>
                </a:cubicBezTo>
                <a:cubicBezTo>
                  <a:pt x="5859980" y="-23918"/>
                  <a:pt x="6171524" y="46211"/>
                  <a:pt x="6330724" y="0"/>
                </a:cubicBezTo>
                <a:cubicBezTo>
                  <a:pt x="6489924" y="-46211"/>
                  <a:pt x="6670359" y="71824"/>
                  <a:pt x="6993508" y="0"/>
                </a:cubicBezTo>
                <a:cubicBezTo>
                  <a:pt x="7316657" y="-71824"/>
                  <a:pt x="7188758" y="21280"/>
                  <a:pt x="7290617" y="0"/>
                </a:cubicBezTo>
                <a:cubicBezTo>
                  <a:pt x="7392476" y="-21280"/>
                  <a:pt x="7732860" y="17297"/>
                  <a:pt x="7953401" y="0"/>
                </a:cubicBezTo>
                <a:cubicBezTo>
                  <a:pt x="8173942" y="-17297"/>
                  <a:pt x="8232788" y="55962"/>
                  <a:pt x="8433347" y="0"/>
                </a:cubicBezTo>
                <a:cubicBezTo>
                  <a:pt x="8633906" y="-55962"/>
                  <a:pt x="8873338" y="28702"/>
                  <a:pt x="9141840" y="0"/>
                </a:cubicBezTo>
                <a:cubicBezTo>
                  <a:pt x="9200569" y="210576"/>
                  <a:pt x="9088228" y="407500"/>
                  <a:pt x="9141840" y="551160"/>
                </a:cubicBezTo>
                <a:cubicBezTo>
                  <a:pt x="9195452" y="694820"/>
                  <a:pt x="9077003" y="961604"/>
                  <a:pt x="9141840" y="1102320"/>
                </a:cubicBezTo>
                <a:cubicBezTo>
                  <a:pt x="9206677" y="1243036"/>
                  <a:pt x="9123615" y="1444347"/>
                  <a:pt x="9141840" y="1653480"/>
                </a:cubicBezTo>
                <a:cubicBezTo>
                  <a:pt x="9027930" y="1688996"/>
                  <a:pt x="8864122" y="1610792"/>
                  <a:pt x="8753312" y="1653480"/>
                </a:cubicBezTo>
                <a:cubicBezTo>
                  <a:pt x="8642502" y="1696168"/>
                  <a:pt x="8409015" y="1606971"/>
                  <a:pt x="8273365" y="1653480"/>
                </a:cubicBezTo>
                <a:cubicBezTo>
                  <a:pt x="8137715" y="1699989"/>
                  <a:pt x="7940250" y="1636412"/>
                  <a:pt x="7793419" y="1653480"/>
                </a:cubicBezTo>
                <a:cubicBezTo>
                  <a:pt x="7646588" y="1670548"/>
                  <a:pt x="7460228" y="1622312"/>
                  <a:pt x="7313472" y="1653480"/>
                </a:cubicBezTo>
                <a:cubicBezTo>
                  <a:pt x="7166716" y="1684648"/>
                  <a:pt x="7014084" y="1630244"/>
                  <a:pt x="6924944" y="1653480"/>
                </a:cubicBezTo>
                <a:cubicBezTo>
                  <a:pt x="6835804" y="1676716"/>
                  <a:pt x="6345382" y="1631218"/>
                  <a:pt x="6170742" y="1653480"/>
                </a:cubicBezTo>
                <a:cubicBezTo>
                  <a:pt x="5996102" y="1675742"/>
                  <a:pt x="5612852" y="1619236"/>
                  <a:pt x="5416540" y="1653480"/>
                </a:cubicBezTo>
                <a:cubicBezTo>
                  <a:pt x="5220228" y="1687724"/>
                  <a:pt x="5204882" y="1625372"/>
                  <a:pt x="5119430" y="1653480"/>
                </a:cubicBezTo>
                <a:cubicBezTo>
                  <a:pt x="5033978" y="1681588"/>
                  <a:pt x="4716779" y="1631581"/>
                  <a:pt x="4548065" y="1653480"/>
                </a:cubicBezTo>
                <a:cubicBezTo>
                  <a:pt x="4379351" y="1675379"/>
                  <a:pt x="4390849" y="1640957"/>
                  <a:pt x="4250956" y="1653480"/>
                </a:cubicBezTo>
                <a:cubicBezTo>
                  <a:pt x="4111063" y="1666003"/>
                  <a:pt x="3745238" y="1582396"/>
                  <a:pt x="3588172" y="1653480"/>
                </a:cubicBezTo>
                <a:cubicBezTo>
                  <a:pt x="3431106" y="1724564"/>
                  <a:pt x="3331035" y="1622632"/>
                  <a:pt x="3199644" y="1653480"/>
                </a:cubicBezTo>
                <a:cubicBezTo>
                  <a:pt x="3068253" y="1684328"/>
                  <a:pt x="2890322" y="1597661"/>
                  <a:pt x="2628279" y="1653480"/>
                </a:cubicBezTo>
                <a:cubicBezTo>
                  <a:pt x="2366237" y="1709299"/>
                  <a:pt x="2406016" y="1643298"/>
                  <a:pt x="2331169" y="1653480"/>
                </a:cubicBezTo>
                <a:cubicBezTo>
                  <a:pt x="2256322" y="1663662"/>
                  <a:pt x="1978503" y="1631571"/>
                  <a:pt x="1851223" y="1653480"/>
                </a:cubicBezTo>
                <a:cubicBezTo>
                  <a:pt x="1723943" y="1675389"/>
                  <a:pt x="1380943" y="1566608"/>
                  <a:pt x="1097021" y="1653480"/>
                </a:cubicBezTo>
                <a:cubicBezTo>
                  <a:pt x="813099" y="1740352"/>
                  <a:pt x="725576" y="1645881"/>
                  <a:pt x="617074" y="1653480"/>
                </a:cubicBezTo>
                <a:cubicBezTo>
                  <a:pt x="508572" y="1661079"/>
                  <a:pt x="281636" y="1611907"/>
                  <a:pt x="0" y="1653480"/>
                </a:cubicBezTo>
                <a:cubicBezTo>
                  <a:pt x="-41899" y="1480126"/>
                  <a:pt x="53415" y="1252168"/>
                  <a:pt x="0" y="1085785"/>
                </a:cubicBezTo>
                <a:cubicBezTo>
                  <a:pt x="-53415" y="919402"/>
                  <a:pt x="4340" y="693410"/>
                  <a:pt x="0" y="567695"/>
                </a:cubicBezTo>
                <a:cubicBezTo>
                  <a:pt x="-4340" y="441980"/>
                  <a:pt x="22249" y="259697"/>
                  <a:pt x="0" y="0"/>
                </a:cubicBezTo>
                <a:close/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/>
          <a:lstStyle/>
          <a:p>
            <a:pPr algn="ctr">
              <a:lnSpc>
                <a:spcPct val="100000"/>
              </a:lnSpc>
            </a:pPr>
            <a:r>
              <a:rPr lang="en-US" sz="2400" b="0" strike="noStrike" spc="-1" dirty="0" err="1">
                <a:uFill>
                  <a:solidFill>
                    <a:srgbClr val="FFFFFF"/>
                  </a:solidFill>
                </a:uFill>
                <a:latin typeface="Calibri" panose="020F0502020204030204"/>
                <a:ea typeface="DejaVu Sans"/>
              </a:rPr>
              <a:t>Universitatea</a:t>
            </a:r>
            <a:r>
              <a:rPr lang="en-US" sz="2400" b="0" strike="noStrike" spc="-1" dirty="0">
                <a:uFill>
                  <a:solidFill>
                    <a:srgbClr val="FFFFFF"/>
                  </a:solidFill>
                </a:uFill>
                <a:latin typeface="Calibri" panose="020F0502020204030204"/>
                <a:ea typeface="DejaVu Sans"/>
              </a:rPr>
              <a:t> din </a:t>
            </a:r>
            <a:r>
              <a:rPr lang="en-US" sz="2400" b="0" strike="noStrike" spc="-1" dirty="0" err="1">
                <a:uFill>
                  <a:solidFill>
                    <a:srgbClr val="FFFFFF"/>
                  </a:solidFill>
                </a:uFill>
                <a:latin typeface="Calibri" panose="020F0502020204030204"/>
                <a:ea typeface="DejaVu Sans"/>
              </a:rPr>
              <a:t>Bucuresti</a:t>
            </a:r>
            <a:endParaRPr lang="en-US" sz="1800" b="0" strike="noStrike" spc="-1" dirty="0" err="1">
              <a:uFill>
                <a:solidFill>
                  <a:srgbClr val="FFFFFF"/>
                </a:solidFill>
              </a:uFill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ct val="100000"/>
              </a:lnSpc>
            </a:pPr>
            <a:r>
              <a:rPr lang="en-US" sz="2400" b="0" strike="noStrike" spc="-1" dirty="0" err="1">
                <a:uFill>
                  <a:solidFill>
                    <a:srgbClr val="FFFFFF"/>
                  </a:solidFill>
                </a:uFill>
                <a:latin typeface="Calibri" panose="020F0502020204030204"/>
                <a:ea typeface="DejaVu Sans"/>
              </a:rPr>
              <a:t>Departamentul</a:t>
            </a:r>
            <a:r>
              <a:rPr lang="en-US" sz="2400" b="0" strike="noStrike" spc="-1" dirty="0">
                <a:uFill>
                  <a:solidFill>
                    <a:srgbClr val="FFFFFF"/>
                  </a:solidFill>
                </a:uFill>
                <a:latin typeface="Calibri" panose="020F0502020204030204"/>
                <a:ea typeface="DejaVu Sans"/>
              </a:rPr>
              <a:t> de Informatica</a:t>
            </a:r>
            <a:endParaRPr lang="en-US" sz="1800" b="0" strike="noStrike" spc="-1" dirty="0">
              <a:uFill>
                <a:solidFill>
                  <a:srgbClr val="FFFFFF"/>
                </a:solidFill>
              </a:uFill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ct val="100000"/>
              </a:lnSpc>
            </a:pPr>
            <a:r>
              <a:rPr lang="en-US" sz="2400" b="0" strike="noStrike" spc="-1" dirty="0" err="1">
                <a:uFill>
                  <a:solidFill>
                    <a:srgbClr val="FFFFFF"/>
                  </a:solidFill>
                </a:uFill>
                <a:latin typeface="Calibri" panose="020F0502020204030204"/>
                <a:ea typeface="DejaVu Sans"/>
              </a:rPr>
              <a:t>Instrumente</a:t>
            </a:r>
            <a:r>
              <a:rPr lang="en-US" sz="2400" b="0" strike="noStrike" spc="-1" dirty="0">
                <a:uFill>
                  <a:solidFill>
                    <a:srgbClr val="FFFFFF"/>
                  </a:solidFill>
                </a:uFill>
                <a:latin typeface="Calibri" panose="020F0502020204030204"/>
                <a:ea typeface="DejaVu Sans"/>
              </a:rPr>
              <a:t> </a:t>
            </a:r>
            <a:r>
              <a:rPr lang="en-US" sz="2400" b="0" strike="noStrike" spc="-1" dirty="0" err="1">
                <a:uFill>
                  <a:solidFill>
                    <a:srgbClr val="FFFFFF"/>
                  </a:solidFill>
                </a:uFill>
                <a:latin typeface="Calibri" panose="020F0502020204030204"/>
                <a:ea typeface="DejaVu Sans"/>
              </a:rPr>
              <a:t>si</a:t>
            </a:r>
            <a:r>
              <a:rPr lang="en-US" sz="2400" b="0" strike="noStrike" spc="-1" dirty="0">
                <a:uFill>
                  <a:solidFill>
                    <a:srgbClr val="FFFFFF"/>
                  </a:solidFill>
                </a:uFill>
                <a:latin typeface="Calibri" panose="020F0502020204030204"/>
                <a:ea typeface="DejaVu Sans"/>
              </a:rPr>
              <a:t> </a:t>
            </a:r>
            <a:r>
              <a:rPr lang="en-US" sz="2400" b="0" strike="noStrike" spc="-1" dirty="0" err="1">
                <a:uFill>
                  <a:solidFill>
                    <a:srgbClr val="FFFFFF"/>
                  </a:solidFill>
                </a:uFill>
                <a:latin typeface="Calibri" panose="020F0502020204030204"/>
                <a:ea typeface="DejaVu Sans"/>
              </a:rPr>
              <a:t>tehnici</a:t>
            </a:r>
            <a:r>
              <a:rPr lang="en-US" sz="2400" b="0" strike="noStrike" spc="-1" dirty="0">
                <a:uFill>
                  <a:solidFill>
                    <a:srgbClr val="FFFFFF"/>
                  </a:solidFill>
                </a:uFill>
                <a:latin typeface="Calibri" panose="020F0502020204030204"/>
                <a:ea typeface="DejaVu Sans"/>
              </a:rPr>
              <a:t> de </a:t>
            </a:r>
            <a:r>
              <a:rPr lang="en-US" sz="2400" b="0" strike="noStrike" spc="-1" dirty="0" err="1">
                <a:uFill>
                  <a:solidFill>
                    <a:srgbClr val="FFFFFF"/>
                  </a:solidFill>
                </a:uFill>
                <a:latin typeface="Calibri" panose="020F0502020204030204"/>
                <a:ea typeface="DejaVu Sans"/>
              </a:rPr>
              <a:t>baza</a:t>
            </a:r>
            <a:r>
              <a:rPr lang="en-US" sz="2400" b="0" strike="noStrike" spc="-1" dirty="0">
                <a:uFill>
                  <a:solidFill>
                    <a:srgbClr val="FFFFFF"/>
                  </a:solidFill>
                </a:uFill>
                <a:latin typeface="Calibri" panose="020F0502020204030204"/>
                <a:ea typeface="DejaVu Sans"/>
              </a:rPr>
              <a:t> in informatica</a:t>
            </a:r>
            <a:endParaRPr lang="en-US" sz="1800" b="0" strike="noStrike" spc="-1" dirty="0">
              <a:uFill>
                <a:solidFill>
                  <a:srgbClr val="FFFFFF"/>
                </a:solidFill>
              </a:uFill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ct val="100000"/>
              </a:lnSpc>
            </a:pPr>
            <a:r>
              <a:rPr lang="en-US" sz="2400" b="0" strike="noStrike" spc="-1">
                <a:uFill>
                  <a:solidFill>
                    <a:srgbClr val="FFFFFF"/>
                  </a:solidFill>
                </a:uFill>
                <a:latin typeface="Calibri" panose="020F0502020204030204"/>
                <a:ea typeface="DejaVu Sans"/>
              </a:rPr>
              <a:t>2025-2026</a:t>
            </a:r>
            <a:endParaRPr lang="en-US" sz="1800" b="0" strike="noStrike" spc="-1">
              <a:uFill>
                <a:solidFill>
                  <a:srgbClr val="FFFFFF"/>
                </a:solidFill>
              </a:u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CustomShape 1"/>
          <p:cNvSpPr/>
          <p:nvPr/>
        </p:nvSpPr>
        <p:spPr>
          <a:xfrm>
            <a:off x="740107" y="-5075"/>
            <a:ext cx="10012698" cy="133424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1" spc="-1" dirty="0" err="1">
                <a:solidFill>
                  <a:schemeClr val="accent2"/>
                </a:solidFill>
                <a:uFill>
                  <a:solidFill>
                    <a:srgbClr val="FFFFFF"/>
                  </a:solidFill>
                </a:uFill>
                <a:latin typeface="Palatino Linotype" panose="02040502050505030304" charset="0"/>
                <a:ea typeface="Calibri Light" panose="020F0302020204030204"/>
                <a:cs typeface="Palatino Linotype" panose="02040502050505030304" charset="0"/>
              </a:rPr>
              <a:t>Cuprins</a:t>
            </a:r>
            <a:endParaRPr lang="en-US" sz="4400" b="1" spc="-1">
              <a:solidFill>
                <a:schemeClr val="accent2"/>
              </a:solidFill>
              <a:uFill>
                <a:solidFill>
                  <a:srgbClr val="FFFFFF"/>
                </a:solidFill>
              </a:uFill>
              <a:latin typeface="Palatino Linotype" panose="02040502050505030304" charset="0"/>
              <a:ea typeface="Calibri Light" panose="020F0302020204030204"/>
              <a:cs typeface="Palatino Linotype" panose="02040502050505030304" charset="0"/>
            </a:endParaRPr>
          </a:p>
        </p:txBody>
      </p:sp>
      <p:sp>
        <p:nvSpPr>
          <p:cNvPr id="75" name="CustomShape 2"/>
          <p:cNvSpPr/>
          <p:nvPr/>
        </p:nvSpPr>
        <p:spPr>
          <a:xfrm>
            <a:off x="478852" y="878503"/>
            <a:ext cx="10273954" cy="587315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/>
          <a:lstStyle/>
          <a:p>
            <a:pPr indent="0">
              <a:buClr>
                <a:srgbClr val="000000"/>
              </a:buClr>
              <a:buNone/>
            </a:pPr>
            <a:endParaRPr lang="en-US" sz="2800" b="1" spc="-1" dirty="0">
              <a:uFill>
                <a:solidFill>
                  <a:srgbClr val="FFFFFF"/>
                </a:solidFill>
              </a:uFill>
            </a:endParaRPr>
          </a:p>
          <a:p>
            <a:pPr marL="914400" lvl="1" indent="-4572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ro-RO" altLang="en-US" sz="2800" b="1" spc="-1" dirty="0"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D</a:t>
            </a:r>
            <a:r>
              <a:rPr lang="en-US" sz="2800" b="1" spc="-1" dirty="0"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escrierea problemei/specifica</a:t>
            </a:r>
            <a:r>
              <a:rPr lang="ro-RO" altLang="en-US" sz="2800" b="1" spc="-1" dirty="0"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ț</a:t>
            </a:r>
            <a:r>
              <a:rPr lang="en-US" sz="2800" b="1" spc="-1" dirty="0"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ia solu</a:t>
            </a:r>
            <a:r>
              <a:rPr lang="ro-RO" altLang="en-US" sz="2800" b="1" spc="-1" dirty="0"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ț</a:t>
            </a:r>
            <a:r>
              <a:rPr lang="en-US" sz="2800" b="1" spc="-1" dirty="0"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iei</a:t>
            </a:r>
            <a:endParaRPr lang="en-US" sz="2800" b="1">
              <a:ea typeface="+mn-lt"/>
              <a:cs typeface="+mn-lt"/>
            </a:endParaRPr>
          </a:p>
          <a:p>
            <a:pPr marL="914400" lvl="1" indent="-457200">
              <a:buClr>
                <a:srgbClr val="B8A0F8"/>
              </a:buClr>
              <a:buFont typeface="Arial" panose="020B0604020202020204" pitchFamily="34" charset="0"/>
              <a:buChar char="•"/>
            </a:pPr>
            <a:endParaRPr lang="en-US" sz="2800" b="1" spc="-1" dirty="0">
              <a:uFill>
                <a:solidFill>
                  <a:srgbClr val="FFFFFF"/>
                </a:solidFill>
              </a:uFill>
              <a:ea typeface="+mn-lt"/>
              <a:cs typeface="+mn-lt"/>
            </a:endParaRPr>
          </a:p>
          <a:p>
            <a:pPr marL="914400" lvl="1" indent="-4572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ro-RO" altLang="en-US" sz="2800" b="1" spc="-1" dirty="0"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D</a:t>
            </a:r>
            <a:r>
              <a:rPr lang="en-US" sz="2800" b="1" spc="-1" dirty="0"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esign </a:t>
            </a:r>
            <a:r>
              <a:rPr lang="en-US" sz="2800" b="1" spc="-1" dirty="0" err="1"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solu</a:t>
            </a:r>
            <a:r>
              <a:rPr lang="ro-RO" altLang="en-US" sz="2800" b="1" spc="-1" dirty="0" err="1"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ț</a:t>
            </a:r>
            <a:r>
              <a:rPr lang="en-US" sz="2800" b="1" spc="-1" dirty="0" err="1"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ie</a:t>
            </a:r>
            <a:r>
              <a:rPr lang="en-US" sz="2800" b="1" spc="-1" dirty="0"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 (eventual </a:t>
            </a:r>
            <a:r>
              <a:rPr lang="en-US" sz="2800" b="1" spc="-1" dirty="0" err="1"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si</a:t>
            </a:r>
            <a:r>
              <a:rPr lang="en-US" sz="2800" b="1" spc="-1" dirty="0"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 </a:t>
            </a:r>
            <a:r>
              <a:rPr lang="en-US" sz="2800" b="1" spc="-1" dirty="0" err="1"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algoritmi</a:t>
            </a:r>
            <a:r>
              <a:rPr lang="en-US" sz="2800" b="1" spc="-1" dirty="0"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 </a:t>
            </a:r>
            <a:r>
              <a:rPr lang="en-US" sz="2800" b="1" spc="-1" dirty="0" err="1"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importanti</a:t>
            </a:r>
            <a:r>
              <a:rPr lang="en-US" sz="2800" b="1" spc="-1" dirty="0"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 folositi)</a:t>
            </a:r>
            <a:endParaRPr lang="en-US" sz="2800" b="1">
              <a:ea typeface="+mn-lt"/>
              <a:cs typeface="+mn-lt"/>
            </a:endParaRPr>
          </a:p>
          <a:p>
            <a:pPr marL="914400" lvl="1" indent="-457200">
              <a:buClr>
                <a:srgbClr val="B8A0F8"/>
              </a:buClr>
              <a:buFont typeface="Arial" panose="020B0604020202020204" pitchFamily="34" charset="0"/>
              <a:buChar char="•"/>
            </a:pPr>
            <a:endParaRPr lang="en-US" sz="2800" b="1" spc="-1" dirty="0">
              <a:uFill>
                <a:solidFill>
                  <a:srgbClr val="FFFFFF"/>
                </a:solidFill>
              </a:uFill>
              <a:ea typeface="+mn-lt"/>
              <a:cs typeface="+mn-lt"/>
            </a:endParaRPr>
          </a:p>
          <a:p>
            <a:pPr marL="914400" lvl="1" indent="-4572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sz="2800" b="1" spc="-1" dirty="0" err="1"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Implementare</a:t>
            </a:r>
            <a:endParaRPr lang="en-US" sz="2800" b="1" spc="-1" dirty="0" err="1">
              <a:uFill>
                <a:solidFill>
                  <a:srgbClr val="FFFFFF"/>
                </a:solidFill>
              </a:uFill>
              <a:ea typeface="+mn-lt"/>
              <a:cs typeface="+mn-lt"/>
            </a:endParaRPr>
          </a:p>
          <a:p>
            <a:pPr marL="914400" lvl="1" indent="-457200">
              <a:buClr>
                <a:srgbClr val="B8A0F8"/>
              </a:buClr>
              <a:buFont typeface="Arial" panose="020B0604020202020204" pitchFamily="34" charset="0"/>
              <a:buChar char="•"/>
            </a:pPr>
            <a:endParaRPr lang="en-US" sz="2800" b="1" spc="-1" dirty="0">
              <a:uFill>
                <a:solidFill>
                  <a:srgbClr val="FFFFFF"/>
                </a:solidFill>
              </a:uFill>
              <a:ea typeface="+mn-lt"/>
              <a:cs typeface="+mn-lt"/>
            </a:endParaRPr>
          </a:p>
          <a:p>
            <a:pPr marL="914400" lvl="1" indent="-4572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sz="2800" b="1" spc="-1" dirty="0" err="1"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Experimente</a:t>
            </a:r>
            <a:endParaRPr lang="en-US" sz="2800" b="1" spc="-1" dirty="0" err="1">
              <a:uFill>
                <a:solidFill>
                  <a:srgbClr val="FFFFFF"/>
                </a:solidFill>
              </a:uFill>
              <a:ea typeface="+mn-lt"/>
              <a:cs typeface="+mn-lt"/>
            </a:endParaRPr>
          </a:p>
          <a:p>
            <a:pPr marL="914400" lvl="1" indent="-457200">
              <a:buClr>
                <a:srgbClr val="B8A0F8"/>
              </a:buClr>
              <a:buFont typeface="Arial" panose="020B0604020202020204" pitchFamily="34" charset="0"/>
              <a:buChar char="•"/>
            </a:pPr>
            <a:endParaRPr lang="en-US" sz="2800" b="1" spc="-1" dirty="0">
              <a:uFill>
                <a:solidFill>
                  <a:srgbClr val="FFFFFF"/>
                </a:solidFill>
              </a:uFill>
              <a:ea typeface="+mn-lt"/>
              <a:cs typeface="+mn-lt"/>
            </a:endParaRPr>
          </a:p>
          <a:p>
            <a:pPr marL="914400" lvl="1" indent="-4572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ro-RO" altLang="en-US" sz="2800" b="1" dirty="0" err="1"/>
              <a:t>C</a:t>
            </a:r>
            <a:r>
              <a:rPr lang="en-US" sz="2800" b="1" dirty="0" err="1"/>
              <a:t>oncluzii</a:t>
            </a:r>
            <a:endParaRPr lang="en-US" sz="2800" b="1" spc="-1" dirty="0" err="1">
              <a:uFill>
                <a:solidFill>
                  <a:srgbClr val="FFFFFF"/>
                </a:solidFill>
              </a:uFill>
              <a:ea typeface="+mn-lt"/>
              <a:cs typeface="+mn-lt"/>
            </a:endParaRPr>
          </a:p>
          <a:p>
            <a:pPr lvl="1" indent="0">
              <a:buClr>
                <a:srgbClr val="000000"/>
              </a:buClr>
              <a:buNone/>
            </a:pPr>
            <a:endParaRPr lang="en-US" sz="2800" b="1" spc="-1" dirty="0" err="1">
              <a:uFill>
                <a:solidFill>
                  <a:srgbClr val="FFFFFF"/>
                </a:solidFill>
              </a:uFill>
              <a:ea typeface="+mn-lt"/>
              <a:cs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435309" y="92897"/>
            <a:ext cx="10513440" cy="132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1" strike="noStrike" spc="-1" dirty="0" err="1">
                <a:solidFill>
                  <a:schemeClr val="accent2"/>
                </a:solidFill>
                <a:uFill>
                  <a:solidFill>
                    <a:srgbClr val="FFFFFF"/>
                  </a:solidFill>
                </a:uFill>
                <a:latin typeface="Palatino Linotype" panose="02040502050505030304" charset="0"/>
                <a:ea typeface="DejaVu Sans"/>
                <a:cs typeface="Palatino Linotype" panose="02040502050505030304" charset="0"/>
              </a:rPr>
              <a:t>Descrierea</a:t>
            </a:r>
            <a:r>
              <a:rPr lang="en-US" sz="4400" b="1" strike="noStrike" spc="-1" dirty="0">
                <a:solidFill>
                  <a:schemeClr val="accent2"/>
                </a:solidFill>
                <a:uFill>
                  <a:solidFill>
                    <a:srgbClr val="FFFFFF"/>
                  </a:solidFill>
                </a:uFill>
                <a:latin typeface="Palatino Linotype" panose="02040502050505030304" charset="0"/>
                <a:ea typeface="DejaVu Sans"/>
                <a:cs typeface="Palatino Linotype" panose="02040502050505030304" charset="0"/>
              </a:rPr>
              <a:t> </a:t>
            </a:r>
            <a:r>
              <a:rPr lang="en-US" sz="4400" b="1" strike="noStrike" spc="-1" dirty="0" err="1">
                <a:solidFill>
                  <a:schemeClr val="accent2"/>
                </a:solidFill>
                <a:uFill>
                  <a:solidFill>
                    <a:srgbClr val="FFFFFF"/>
                  </a:solidFill>
                </a:uFill>
                <a:latin typeface="Palatino Linotype" panose="02040502050505030304" charset="0"/>
                <a:ea typeface="DejaVu Sans"/>
                <a:cs typeface="Palatino Linotype" panose="02040502050505030304" charset="0"/>
              </a:rPr>
              <a:t>problemei</a:t>
            </a:r>
            <a:endParaRPr lang="en-US" sz="1800" b="1" strike="noStrike" spc="-1">
              <a:solidFill>
                <a:schemeClr val="accent2"/>
              </a:solidFill>
              <a:uFill>
                <a:solidFill>
                  <a:srgbClr val="FFFFFF"/>
                </a:solidFill>
              </a:uFill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77" name="CustomShape 2"/>
          <p:cNvSpPr/>
          <p:nvPr/>
        </p:nvSpPr>
        <p:spPr>
          <a:xfrm>
            <a:off x="-97790" y="1270635"/>
            <a:ext cx="12015470" cy="535749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/>
          <a:lstStyle/>
          <a:p>
            <a:pPr marL="800100"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Contextul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general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este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monitorizarea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sistemului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de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fișiere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.</a:t>
            </a:r>
            <a:endParaRPr lang="en-US" sz="2400" spc="-1" dirty="0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marL="800100"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Datele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problemei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constă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în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 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structura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dinamică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 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și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monitorizarea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directorului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target (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crearea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/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ștergerea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/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modificarea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 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constantă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a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fișierelor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și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 sub-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directoarelor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ce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se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află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în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acesta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).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800100"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Deficiențele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metodelor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clasice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: De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ce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această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metodă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este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superioară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?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Pentru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 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început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,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monitorizarea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manuală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 (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comanda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ls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în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mod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repetat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)</a:t>
            </a:r>
            <a:r>
              <a:rPr lang="ro-RO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lasa categoric de dorit la capitolul eficiență. Mai apoi, monitorizarea pasivă (asemenea celei de la task-ul 13) nu oferă alerte în timp real, ci la un interval arbitrar, astfel pot apărea mici </a:t>
            </a:r>
            <a:r>
              <a:rPr lang="en-GB" altLang="ro-RO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“</a:t>
            </a:r>
            <a:r>
              <a:rPr lang="ro-RO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scăpări</a:t>
            </a:r>
            <a:r>
              <a:rPr lang="en-GB" altLang="ro-RO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”</a:t>
            </a:r>
            <a:r>
              <a:rPr lang="ro-RO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.</a:t>
            </a:r>
            <a:endParaRPr lang="ro-RO" altLang="en-US" sz="2400" spc="-1" dirty="0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marL="800100"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GB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C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are sunt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datele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particulare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ale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problemei</a:t>
            </a:r>
            <a:r>
              <a:rPr lang="en-GB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? - Directorul</a:t>
            </a:r>
            <a:r>
              <a:rPr lang="ro-RO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țintă (în cazul nostru </a:t>
            </a:r>
            <a:r>
              <a:rPr lang="en-GB" altLang="ro-RO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“test”) </a:t>
            </a:r>
            <a:r>
              <a:rPr lang="ro-RO" altLang="ro-RO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și fișierul text </a:t>
            </a:r>
            <a:r>
              <a:rPr lang="en-GB" altLang="ro-RO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“</a:t>
            </a:r>
            <a:r>
              <a:rPr lang="ro-RO" altLang="ro-RO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modificări</a:t>
            </a:r>
            <a:r>
              <a:rPr lang="en-GB" altLang="ro-RO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”</a:t>
            </a:r>
            <a:r>
              <a:rPr lang="ro-RO" altLang="ro-RO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, care este actulizat asincron.</a:t>
            </a:r>
            <a:endParaRPr lang="en-US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marL="800100"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GB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Ce se urm</a:t>
            </a:r>
            <a:r>
              <a:rPr lang="ro-RO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ărește cu adevărat? În mare, crearea unui program care nu necesită intervenție umană, alertând utilizatorul instantaneu în legătură cu posibilele modificări - pe scurt, automatizarea detectării modificărilor.</a:t>
            </a:r>
            <a:endParaRPr lang="ro-RO" altLang="en-US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marL="800100"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endParaRPr lang="ro-RO" altLang="en-US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435309" y="92897"/>
            <a:ext cx="10513440" cy="132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1" strike="noStrike" spc="-1" dirty="0" err="1">
                <a:solidFill>
                  <a:schemeClr val="accent2"/>
                </a:solidFill>
                <a:uFill>
                  <a:solidFill>
                    <a:srgbClr val="FFFFFF"/>
                  </a:solidFill>
                </a:uFill>
                <a:latin typeface="Palatino Linotype" panose="02040502050505030304" charset="0"/>
                <a:ea typeface="DejaVu Sans"/>
                <a:cs typeface="Palatino Linotype" panose="02040502050505030304" charset="0"/>
              </a:rPr>
              <a:t>Descrierea</a:t>
            </a:r>
            <a:r>
              <a:rPr lang="en-US" sz="4400" b="1" strike="noStrike" spc="-1" dirty="0">
                <a:solidFill>
                  <a:schemeClr val="accent2"/>
                </a:solidFill>
                <a:uFill>
                  <a:solidFill>
                    <a:srgbClr val="FFFFFF"/>
                  </a:solidFill>
                </a:uFill>
                <a:latin typeface="Palatino Linotype" panose="02040502050505030304" charset="0"/>
                <a:ea typeface="DejaVu Sans"/>
                <a:cs typeface="Palatino Linotype" panose="02040502050505030304" charset="0"/>
              </a:rPr>
              <a:t> </a:t>
            </a:r>
            <a:r>
              <a:rPr lang="en-US" sz="4400" b="1" strike="noStrike" spc="-1" dirty="0" err="1">
                <a:solidFill>
                  <a:schemeClr val="accent2"/>
                </a:solidFill>
                <a:uFill>
                  <a:solidFill>
                    <a:srgbClr val="FFFFFF"/>
                  </a:solidFill>
                </a:uFill>
                <a:latin typeface="Palatino Linotype" panose="02040502050505030304" charset="0"/>
                <a:ea typeface="DejaVu Sans"/>
                <a:cs typeface="Palatino Linotype" panose="02040502050505030304" charset="0"/>
              </a:rPr>
              <a:t>problemei</a:t>
            </a:r>
            <a:endParaRPr lang="en-US" sz="1800" b="1" strike="noStrike" spc="-1">
              <a:solidFill>
                <a:schemeClr val="accent2"/>
              </a:solidFill>
              <a:uFill>
                <a:solidFill>
                  <a:srgbClr val="FFFFFF"/>
                </a:solidFill>
              </a:uFill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77" name="CustomShape 2"/>
          <p:cNvSpPr/>
          <p:nvPr/>
        </p:nvSpPr>
        <p:spPr>
          <a:xfrm>
            <a:off x="76200" y="1143000"/>
            <a:ext cx="12015470" cy="5313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/>
          <a:lstStyle/>
          <a:p>
            <a:pPr marL="0"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ro-RO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Care este importanța soluției? Fără o astfel de implementare, utilizatorul nu va fi înștiințat în legătură cu schimbările instantanee.</a:t>
            </a:r>
            <a:endParaRPr lang="ro-RO" altLang="en-US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  <a:sym typeface="+mn-ea"/>
            </a:endParaRPr>
          </a:p>
          <a:p>
            <a:pPr marL="0"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ro-RO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Soluțiile posibile sunt următoarele:</a:t>
            </a:r>
            <a:endParaRPr lang="ro-RO" altLang="en-US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lvl="2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Polling: Rularea unui script care face ls -R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ș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 diff la fiecare secund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. (Ineficient, consum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mult CPU).</a:t>
            </a: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lvl="2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Audit pasiv: Folosirea utilitarului script / typescript pentru a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î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nregistra sesiuni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ș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 a le analiza ulterior. (Nu este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î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n timp real).</a:t>
            </a: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lvl="2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Notif</a:t>
            </a:r>
            <a:r>
              <a:rPr lang="ro-RO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icare la fiecare eveniment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: Folosirea interfe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ț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ei inotify. Aceasta este solu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ț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ia pe care o implement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m deoarece este cea mai performant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ș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 reac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ț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ioneaz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instantaneu.</a:t>
            </a: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marL="342900" lvl="0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ro-RO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Măsurile de performanță pe care le luăm în calcul sunt latența (intervalul de timp existent între acțiunea utilizatorului și afișarea mesajului)</a:t>
            </a:r>
            <a:r>
              <a:rPr lang="en-GB" altLang="ro-RO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,</a:t>
            </a:r>
            <a:r>
              <a:rPr lang="ro-RO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acuratețea - detectarea corectă a </a:t>
            </a:r>
            <a:r>
              <a:rPr lang="ro-RO" altLang="en-US" sz="2400" u="sng" spc="-1" dirty="0" err="1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fiecărui </a:t>
            </a:r>
            <a:r>
              <a:rPr lang="ro-RO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eveniment ce are loc</a:t>
            </a:r>
            <a:r>
              <a:rPr lang="en-GB" altLang="ro-RO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ro-RO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și utilizarea CPU-ului.</a:t>
            </a:r>
            <a:endParaRPr lang="ro-RO" altLang="en-US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  <a:sym typeface="+mn-ea"/>
            </a:endParaRPr>
          </a:p>
          <a:p>
            <a:pPr lvl="0" indent="0">
              <a:buClr>
                <a:srgbClr val="B8A0F8"/>
              </a:buClr>
              <a:buFont typeface="Arial" panose="020B0604020202020204" pitchFamily="34" charset="0"/>
              <a:buNone/>
            </a:pPr>
            <a:endParaRPr lang="ro-RO" altLang="en-US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380699" y="-213808"/>
            <a:ext cx="10513440" cy="132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ro-RO" altLang="en-US" sz="4400" b="1" strike="noStrike" spc="-1" dirty="0" err="1">
                <a:solidFill>
                  <a:schemeClr val="accent2"/>
                </a:solidFill>
                <a:uFill>
                  <a:solidFill>
                    <a:srgbClr val="FFFFFF"/>
                  </a:solidFill>
                </a:uFill>
                <a:latin typeface="Palatino Linotype" panose="02040502050505030304" charset="0"/>
                <a:ea typeface="DejaVu Sans"/>
                <a:cs typeface="Palatino Linotype" panose="02040502050505030304" charset="0"/>
              </a:rPr>
              <a:t>Specificația soluției</a:t>
            </a:r>
            <a:endParaRPr lang="ro-RO" altLang="en-US" sz="1800" b="1" strike="noStrike" spc="-1">
              <a:solidFill>
                <a:schemeClr val="accent2"/>
              </a:solidFill>
              <a:uFill>
                <a:solidFill>
                  <a:srgbClr val="FFFFFF"/>
                </a:solidFill>
              </a:uFill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77" name="CustomShape 2"/>
          <p:cNvSpPr/>
          <p:nvPr/>
        </p:nvSpPr>
        <p:spPr>
          <a:xfrm>
            <a:off x="-76200" y="762000"/>
            <a:ext cx="12015470" cy="6108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/>
          <a:lstStyle/>
          <a:p>
            <a:pPr marL="0"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endParaRPr lang="ro-RO" altLang="en-US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52400" y="831850"/>
            <a:ext cx="11787505" cy="58883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Problema: exist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 un eveniment E = {create(f), delete(f), modify(f)} pentru directorul d = $DIRECTOR_TINTA; la fiecare apari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ț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ie a lui E se execut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 interogarea Q = df(d), se extrage valoarea V_space (prin filtrul tail + awk)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ș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i se afi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ș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eaz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î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n terminal + se salveaz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î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n jurnalul J = $RAPORT.</a:t>
            </a:r>
            <a:r>
              <a:rPr lang="ro-RO" altLang="en-US" sz="2000">
                <a:latin typeface="Times New Roman" panose="02020603050405020304" charset="0"/>
                <a:cs typeface="Times New Roman" panose="02020603050405020304" charset="0"/>
              </a:rPr>
              <a:t>Obiective: Detecția evenimentelor în timp real + output accesibil de utilizator</a:t>
            </a:r>
            <a:endParaRPr lang="ro-RO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altLang="en-US" sz="2000">
                <a:latin typeface="Times New Roman" panose="02020603050405020304" charset="0"/>
                <a:cs typeface="Times New Roman" panose="02020603050405020304" charset="0"/>
              </a:rPr>
              <a:t>Prototip:  Un utilitar CLI, rulează în background, raportează modificările efectuate asupra directorului țintă.</a:t>
            </a:r>
            <a:endParaRPr lang="ro-RO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altLang="en-US" sz="2000">
                <a:latin typeface="Times New Roman" panose="02020603050405020304" charset="0"/>
                <a:cs typeface="Times New Roman" panose="02020603050405020304" charset="0"/>
              </a:rPr>
              <a:t>Use case-uri minimale: creare, ștergere, modificare.</a:t>
            </a:r>
            <a:endParaRPr lang="ro-RO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altLang="en-US" sz="2000">
                <a:latin typeface="Times New Roman" panose="02020603050405020304" charset="0"/>
                <a:cs typeface="Times New Roman" panose="02020603050405020304" charset="0"/>
              </a:rPr>
              <a:t>Cerințe funcționale: verificare dacă este instalat pachetul inotify-tools, scrie un titlu în fișierul-raport cu sesiunea curentă, începe monitorizarea, pentru fiecare eveniment detectat este efectuat un case cu 3 outcome-uri (create, delete, modify). După case, verifică spațiul liber de pe disc</a:t>
            </a:r>
            <a:r>
              <a:rPr lang="en-GB" altLang="ro-RO" sz="20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ro-RO" altLang="ro-RO" sz="2000">
                <a:latin typeface="Times New Roman" panose="02020603050405020304" charset="0"/>
                <a:cs typeface="Times New Roman" panose="02020603050405020304" charset="0"/>
              </a:rPr>
              <a:t>și îl afișează.</a:t>
            </a:r>
            <a:endParaRPr lang="ro-RO" altLang="ro-RO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altLang="ro-RO" sz="2000">
                <a:latin typeface="Times New Roman" panose="02020603050405020304" charset="0"/>
                <a:cs typeface="Times New Roman" panose="02020603050405020304" charset="0"/>
              </a:rPr>
              <a:t>Cerințe de utilizare: se rulează script-ul folosind o comandă - ./monitor.sh. Citirea fiecărui update legat de directorul țintă. Afișaj ușor de interpretat.</a:t>
            </a:r>
            <a:endParaRPr lang="ro-RO" altLang="ro-RO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altLang="ro-RO" sz="2000">
                <a:latin typeface="Times New Roman" panose="02020603050405020304" charset="0"/>
                <a:cs typeface="Times New Roman" panose="02020603050405020304" charset="0"/>
              </a:rPr>
              <a:t>Cerințe tehnice: Linux Kernel standard cu pachetul inotify-tools, sistem I/O pentru interacționarea cu shell-ul.</a:t>
            </a:r>
            <a:endParaRPr lang="ro-RO" altLang="ro-RO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altLang="en-US" sz="2000">
                <a:latin typeface="Times New Roman" panose="02020603050405020304" charset="0"/>
                <a:cs typeface="Times New Roman" panose="02020603050405020304" charset="0"/>
              </a:rPr>
              <a:t>Interacțiunea cu alte sisteme: doar monitorizează, nu are alte interacțiuni notabile cu alte sisteme.</a:t>
            </a:r>
            <a:endParaRPr lang="ro-RO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altLang="en-US" sz="2000">
                <a:latin typeface="Times New Roman" panose="02020603050405020304" charset="0"/>
                <a:cs typeface="Times New Roman" panose="02020603050405020304" charset="0"/>
              </a:rPr>
              <a:t>UI/UX design: interfață text minimală în terminal - ora, tipul evenimentului, numele fișierului modificat, spațiul rămas pe disk.</a:t>
            </a:r>
            <a:r>
              <a:rPr lang="ro-RO" altLang="en-US" sz="2000"/>
              <a:t> </a:t>
            </a:r>
            <a:endParaRPr lang="ro-RO" alt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altLang="en-US" sz="2000">
                <a:latin typeface="Times New Roman" panose="02020603050405020304" charset="0"/>
                <a:cs typeface="Times New Roman" panose="02020603050405020304" charset="0"/>
              </a:rPr>
              <a:t>Cerințe de sistem: bash, coreutils, inotify-tools, putere de calcul minimală </a:t>
            </a:r>
            <a:r>
              <a:rPr lang="en-US" altLang="en-GB" sz="20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CPU ~0%</a:t>
            </a:r>
            <a:r>
              <a:rPr lang="ro-RO" altLang="en-US" sz="20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.</a:t>
            </a:r>
            <a:endParaRPr lang="ro-RO" altLang="en-US" sz="20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altLang="en-US" sz="20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Se presupune că utilizatorul are drept de citire. Constrângerea: nevoia pachetului inotify-tools. Dependențe: coreutils, pachetele mentionate anterior, bash, sistem de fișiere compatibil (să suporte modificări de tip inode)</a:t>
            </a:r>
            <a:endParaRPr lang="ro-RO" altLang="en-US" sz="20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altLang="en-US" sz="20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Plan de evaluare: latența detecției, acuratețea, robustețea și utilizarea CPU-ului.</a:t>
            </a:r>
            <a:endParaRPr lang="ro-RO" altLang="en-US" sz="20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380699" y="-27753"/>
            <a:ext cx="10513440" cy="132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GB" altLang="ro-RO" sz="4400" b="1" strike="noStrike" spc="-1" dirty="0" err="1">
                <a:solidFill>
                  <a:schemeClr val="accent2"/>
                </a:solidFill>
                <a:uFill>
                  <a:solidFill>
                    <a:srgbClr val="FFFFFF"/>
                  </a:solidFill>
                </a:uFill>
                <a:latin typeface="Palatino Linotype" panose="02040502050505030304" charset="0"/>
                <a:ea typeface="DejaVu Sans"/>
                <a:cs typeface="Palatino Linotype" panose="02040502050505030304" charset="0"/>
              </a:rPr>
              <a:t>Design</a:t>
            </a:r>
            <a:endParaRPr lang="en-GB" altLang="ro-RO" sz="4400" b="1" strike="noStrike" spc="-1" dirty="0" err="1">
              <a:solidFill>
                <a:schemeClr val="accent2"/>
              </a:solidFill>
              <a:uFill>
                <a:solidFill>
                  <a:srgbClr val="FFFFFF"/>
                </a:solidFill>
              </a:uFill>
              <a:latin typeface="Palatino Linotype" panose="02040502050505030304" charset="0"/>
              <a:ea typeface="DejaVu Sans"/>
              <a:cs typeface="Palatino Linotype" panose="02040502050505030304" charset="0"/>
            </a:endParaRPr>
          </a:p>
        </p:txBody>
      </p:sp>
      <p:sp>
        <p:nvSpPr>
          <p:cNvPr id="77" name="CustomShape 2"/>
          <p:cNvSpPr/>
          <p:nvPr/>
        </p:nvSpPr>
        <p:spPr>
          <a:xfrm>
            <a:off x="-76200" y="1143000"/>
            <a:ext cx="12015470" cy="6108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/>
          <a:lstStyle/>
          <a:p>
            <a:pPr marL="0"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endParaRPr lang="ro-RO" altLang="en-US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51765" y="1295400"/>
            <a:ext cx="11787505" cy="58883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Arhitectur</a:t>
            </a:r>
            <a:r>
              <a:rPr lang="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 software: 3 componente — Kernel Linux (inotify)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→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 inotifywait -(prin Pipe)--- Script bash (procesare + afi</a:t>
            </a:r>
            <a:r>
              <a:rPr lang="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ș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are) </a:t>
            </a: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Diagrama componente: </a:t>
            </a:r>
            <a:r>
              <a:rPr lang="en-GB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sistemul de fi</a:t>
            </a:r>
            <a:r>
              <a:rPr lang="ro-RO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șiere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 — [inotify kernel] — inotifywait — pipe — while read — tail -n 1 — awk — </a:t>
            </a:r>
            <a:r>
              <a:rPr lang="ro-RO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df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 — stdout + sistem de fi</a:t>
            </a:r>
            <a:r>
              <a:rPr lang="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ș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iere</a:t>
            </a: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Mecanisme folosite: inotify (observa evenimentele), pipe (stdout(inotify)-stdin(while)), bucl</a:t>
            </a:r>
            <a:r>
              <a:rPr lang="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 while read (consum incremental de evenimente), tail (extrage ultima intrare)</a:t>
            </a:r>
            <a:r>
              <a:rPr lang="ro-RO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, awk (selectam coloana specifica spatiului liber pe disc)</a:t>
            </a:r>
            <a:endParaRPr lang="ro-RO" altLang="en-US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Algoritm specific problemei: Event-driven pipeline processing — la fiecare eveniment detectat (CREATE, DELETE), se execut</a:t>
            </a:r>
            <a:r>
              <a:rPr lang="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 comanda df pe director, se elimin</a:t>
            </a:r>
            <a:r>
              <a:rPr lang="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 antetul cu tail -n 1, se extrage coloana 4 cu awk, iar rezultatul este scris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î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n log al</a:t>
            </a:r>
            <a:r>
              <a:rPr lang="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turi de timestamp.</a:t>
            </a: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De ce inotify (vs polling): inotify consta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î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n reac</a:t>
            </a:r>
            <a:r>
              <a:rPr lang="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ț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ie imediat</a:t>
            </a:r>
            <a:r>
              <a:rPr lang="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 + CPU ~0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î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n idle; pe cand polling = verific</a:t>
            </a:r>
            <a:r>
              <a:rPr lang="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ri repetate + laten</a:t>
            </a:r>
            <a:r>
              <a:rPr lang="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ță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 (depinde de frecven</a:t>
            </a:r>
            <a:r>
              <a:rPr lang="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ț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a verific</a:t>
            </a:r>
            <a:r>
              <a:rPr lang="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rilor) + consum CPU constant</a:t>
            </a: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380699" y="-213808"/>
            <a:ext cx="10513440" cy="132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GB" altLang="ro-RO" sz="4400" b="1" strike="noStrike" spc="-1" dirty="0" err="1">
                <a:solidFill>
                  <a:schemeClr val="accent2"/>
                </a:solidFill>
                <a:uFill>
                  <a:solidFill>
                    <a:srgbClr val="FFFFFF"/>
                  </a:solidFill>
                </a:uFill>
                <a:latin typeface="Palatino Linotype" panose="02040502050505030304" charset="0"/>
                <a:ea typeface="DejaVu Sans"/>
                <a:cs typeface="Palatino Linotype" panose="02040502050505030304" charset="0"/>
              </a:rPr>
              <a:t>Design</a:t>
            </a:r>
            <a:endParaRPr lang="en-GB" altLang="ro-RO" sz="4400" b="1" strike="noStrike" spc="-1" dirty="0" err="1">
              <a:solidFill>
                <a:schemeClr val="accent2"/>
              </a:solidFill>
              <a:uFill>
                <a:solidFill>
                  <a:srgbClr val="FFFFFF"/>
                </a:solidFill>
              </a:uFill>
              <a:latin typeface="Palatino Linotype" panose="02040502050505030304" charset="0"/>
              <a:ea typeface="DejaVu Sans"/>
              <a:cs typeface="Palatino Linotype" panose="02040502050505030304" charset="0"/>
            </a:endParaRPr>
          </a:p>
        </p:txBody>
      </p:sp>
      <p:sp>
        <p:nvSpPr>
          <p:cNvPr id="77" name="CustomShape 2"/>
          <p:cNvSpPr/>
          <p:nvPr/>
        </p:nvSpPr>
        <p:spPr>
          <a:xfrm>
            <a:off x="-76200" y="762000"/>
            <a:ext cx="12015470" cy="6108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/>
          <a:lstStyle/>
          <a:p>
            <a:pPr marL="0"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endParaRPr lang="ro-RO" altLang="en-US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52400" y="1219200"/>
            <a:ext cx="11787505" cy="58883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Func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ț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ionalitate comparat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 (tail vs audit): tail -f ofer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 vizualizare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î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n timp real, dar pierde istoricul la inchidere, pe cand un la un script de tip audit ele raman salvate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ș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i dup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 repornire</a:t>
            </a: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Adaptarea la problem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: Solu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ț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ia leag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 dou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 surse de date diferite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→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 folosim semnalul de la inotify (care ne zice c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â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nd s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 verific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m) pentru a declan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ș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a comanda df (care ne zice c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â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t spa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ț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iu mai e).</a:t>
            </a: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Particularit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ăț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i/limit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ri asumate: Scriptul depinde rigid de formatul standard al comenzii df; dac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 o distribu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ț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ie Linux schimb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 ordinea coloanelor, awk ar putea extrage gre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ș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it datele; de asemenea, solu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ț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ia e strict legat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 de Kernel-ul Linux (nu e portabil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).</a:t>
            </a: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Diferen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ț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e fa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ță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 de abord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ri similare: Reac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ț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ie instantanee vs. Polling (nu verific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m discul la fiecare secund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 cu sleep, ci doar c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â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nd e nevoie); consum zero de resurse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î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n starea de a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ș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teptare.</a:t>
            </a: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228299" y="-76013"/>
            <a:ext cx="10513440" cy="132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ro-RO" altLang="en-US" sz="4400" b="1" strike="noStrike" spc="-1" dirty="0" err="1">
                <a:solidFill>
                  <a:schemeClr val="accent2"/>
                </a:solidFill>
                <a:uFill>
                  <a:solidFill>
                    <a:srgbClr val="FFFFFF"/>
                  </a:solidFill>
                </a:uFill>
                <a:latin typeface="Palatino Linotype" panose="02040502050505030304" charset="0"/>
                <a:ea typeface="DejaVu Sans"/>
                <a:cs typeface="Palatino Linotype" panose="02040502050505030304" charset="0"/>
              </a:rPr>
              <a:t>Implementare</a:t>
            </a:r>
            <a:endParaRPr lang="ro-RO" altLang="en-US" sz="1800" b="1" strike="noStrike" spc="-1">
              <a:solidFill>
                <a:schemeClr val="accent2"/>
              </a:solidFill>
              <a:uFill>
                <a:solidFill>
                  <a:srgbClr val="FFFFFF"/>
                </a:solidFill>
              </a:uFill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77" name="CustomShape 2"/>
          <p:cNvSpPr/>
          <p:nvPr/>
        </p:nvSpPr>
        <p:spPr>
          <a:xfrm>
            <a:off x="76200" y="1143000"/>
            <a:ext cx="11545570" cy="558863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/>
          <a:lstStyle/>
          <a:p>
            <a:pPr marL="0"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Componente Software:</a:t>
            </a: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lvl="2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Script Bash (monitor.sh) structurat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î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n trei blocuri:</a:t>
            </a: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lvl="3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Ini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ț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ializare: Verificare dependen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ț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e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ș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 creare structur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directoare.</a:t>
            </a: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lvl="3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Captur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: Interceptare flux evenimente (Producer).</a:t>
            </a: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lvl="3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Procesare: Bucl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infinit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de interpretare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ș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 jurnalizare (Consumer).</a:t>
            </a: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marL="914400" lvl="4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GB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Inotifywait: 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Motorul de detec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ț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ie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î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n timp real.</a:t>
            </a: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lvl="2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marL="0"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Biblioteci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ș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 Utilitare utilizate:</a:t>
            </a: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lvl="2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inotify-tools</a:t>
            </a: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lvl="2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coreutils (cmd: df, date, awk): Manipulare text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ș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 interogare sistem.</a:t>
            </a: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lvl="2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bash: Interpretorul de comenzi.</a:t>
            </a: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marL="0"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marL="0"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endParaRPr lang="ro-RO" altLang="en-US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228299" y="-76013"/>
            <a:ext cx="10513440" cy="132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ro-RO" altLang="en-US" sz="4400" b="1" strike="noStrike" spc="-1" dirty="0" err="1">
                <a:solidFill>
                  <a:schemeClr val="accent2"/>
                </a:solidFill>
                <a:uFill>
                  <a:solidFill>
                    <a:srgbClr val="FFFFFF"/>
                  </a:solidFill>
                </a:uFill>
                <a:latin typeface="Palatino Linotype" panose="02040502050505030304" charset="0"/>
                <a:ea typeface="DejaVu Sans"/>
                <a:cs typeface="Palatino Linotype" panose="02040502050505030304" charset="0"/>
              </a:rPr>
              <a:t>Implementare</a:t>
            </a:r>
            <a:endParaRPr lang="ro-RO" altLang="en-US" sz="1800" b="1" strike="noStrike" spc="-1">
              <a:solidFill>
                <a:schemeClr val="accent2"/>
              </a:solidFill>
              <a:uFill>
                <a:solidFill>
                  <a:srgbClr val="FFFFFF"/>
                </a:solidFill>
              </a:uFill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77" name="CustomShape 2"/>
          <p:cNvSpPr/>
          <p:nvPr/>
        </p:nvSpPr>
        <p:spPr>
          <a:xfrm>
            <a:off x="0" y="1113790"/>
            <a:ext cx="11353165" cy="572198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/>
          <a:lstStyle/>
          <a:p>
            <a:pPr marL="0"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Provoc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ri Tehnice &amp; Solu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ț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ii:</a:t>
            </a: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lvl="2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Problem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: Output-ul inotify este tehnic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ș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i greu de citit (ex: CLOSE_WRITE,CLOSE).</a:t>
            </a: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lvl="3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Solu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ț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ie: Implementarea unui parser cu structur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 case pentru traducere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î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n limbaj natural.</a:t>
            </a: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lvl="2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Problem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: Extragerea spa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ț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iului disponibil dintr-un output multilinie (df).</a:t>
            </a: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lvl="3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Solu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ț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ie: Filtrare cu tail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ș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i extragere coloan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 specific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 cu awk.</a:t>
            </a: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marL="0"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marL="0"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Limit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ri:</a:t>
            </a: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lvl="2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Dependen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ță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 strict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 de Kernel-ul Linux (neportabil pe Windows/macOS).</a:t>
            </a: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lvl="2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Limitat de fs.inotify.max_user_watches (num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rul maxim de fi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ș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iere ce pot fi monitorizate simultan de kernel).</a:t>
            </a:r>
            <a:endParaRPr lang="ro-RO" altLang="en-US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marL="0"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marL="0"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endParaRPr lang="ro-RO" altLang="en-US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228299" y="-76013"/>
            <a:ext cx="10513440" cy="132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ro-RO" altLang="en-US" sz="4400" b="1" strike="noStrike" spc="-1" dirty="0" err="1">
                <a:solidFill>
                  <a:schemeClr val="accent2"/>
                </a:solidFill>
                <a:uFill>
                  <a:solidFill>
                    <a:srgbClr val="FFFFFF"/>
                  </a:solidFill>
                </a:uFill>
                <a:latin typeface="Palatino Linotype" panose="02040502050505030304" charset="0"/>
                <a:ea typeface="DejaVu Sans"/>
                <a:cs typeface="Palatino Linotype" panose="02040502050505030304" charset="0"/>
              </a:rPr>
              <a:t>Experimente</a:t>
            </a:r>
            <a:endParaRPr lang="ro-RO" altLang="en-US" sz="1800" b="1" strike="noStrike" spc="-1">
              <a:solidFill>
                <a:schemeClr val="accent2"/>
              </a:solidFill>
              <a:uFill>
                <a:solidFill>
                  <a:srgbClr val="FFFFFF"/>
                </a:solidFill>
              </a:uFill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77" name="CustomShape 2"/>
          <p:cNvSpPr/>
          <p:nvPr/>
        </p:nvSpPr>
        <p:spPr>
          <a:xfrm>
            <a:off x="0" y="986155"/>
            <a:ext cx="11953875" cy="58496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/>
          <a:lstStyle/>
          <a:p>
            <a:pPr marL="0"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Arhitectura de Testare (Mediu HW/SW):</a:t>
            </a: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lvl="2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Platform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: Ma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ș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in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Virtual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Linux (Ubuntu 24.04.1 LTS) .</a:t>
            </a: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lvl="2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ro-RO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Hardware: CPU Intel I5, 16 GB RAM</a:t>
            </a:r>
            <a:endParaRPr lang="ro-RO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lvl="2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Software: Bash Shell, inotify-tools, utilitare standard GNU (df, awk).</a:t>
            </a: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lvl="2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Procese: 2 procese active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î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n pipeline (Scriptul principal + inotifywait).</a:t>
            </a: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Scenarii de Utilizare (Use-Cases):</a:t>
            </a: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lvl="2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Scenariul A (Creare): Crearea unui fi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ș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ier gol vs. fi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ș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ier mare (verificare detec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ț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ie tip eveniment).</a:t>
            </a: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lvl="2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Scenariul B (Modificare): Ad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ugarea de text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î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ntr-un fi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ș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ier existent (verificare timestamp).</a:t>
            </a: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lvl="2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Scenariul C (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Ș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tergere):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Ș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tergerea recursiv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a unui sub-folder (verificare alert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spa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ț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iu disc).</a:t>
            </a: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M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suri de Performan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ță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:</a:t>
            </a: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lvl="2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Timp de R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spuns (Laten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ță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): &lt; 0.1 secunde (</a:t>
            </a:r>
            <a:r>
              <a:rPr lang="ro-RO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nstantaneu).</a:t>
            </a: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lvl="2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Utilizare Resurse: Consum CPU ~0%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î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n starea </a:t>
            </a:r>
            <a:r>
              <a:rPr lang="ro-RO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idle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.</a:t>
            </a: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lvl="2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Acurate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ț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e: Corelare 1:1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î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ntre ac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ț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iunile utilizatorului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ș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 intr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rile din jurnal (modificari.txt).</a:t>
            </a: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marL="0"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endParaRPr lang="ro-RO" altLang="en-US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ylanVTI">
  <a:themeElements>
    <a:clrScheme name="DylanVTI">
      <a:dk1>
        <a:sysClr val="windowText" lastClr="000000"/>
      </a:dk1>
      <a:lt1>
        <a:sysClr val="window" lastClr="FFFFFF"/>
      </a:lt1>
      <a:dk2>
        <a:srgbClr val="1A1A33"/>
      </a:dk2>
      <a:lt2>
        <a:srgbClr val="EEFFE3"/>
      </a:lt2>
      <a:accent1>
        <a:srgbClr val="5C40EF"/>
      </a:accent1>
      <a:accent2>
        <a:srgbClr val="B8A0F8"/>
      </a:accent2>
      <a:accent3>
        <a:srgbClr val="00C777"/>
      </a:accent3>
      <a:accent4>
        <a:srgbClr val="005A66"/>
      </a:accent4>
      <a:accent5>
        <a:srgbClr val="9956EA"/>
      </a:accent5>
      <a:accent6>
        <a:srgbClr val="9BBB25"/>
      </a:accent6>
      <a:hlink>
        <a:srgbClr val="674CF0"/>
      </a:hlink>
      <a:folHlink>
        <a:srgbClr val="B53699"/>
      </a:folHlink>
    </a:clrScheme>
    <a:fontScheme name="Dylan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Dylan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6B40607B74BC429BA29107EE76F9BC" ma:contentTypeVersion="11" ma:contentTypeDescription="Create a new document." ma:contentTypeScope="" ma:versionID="d2990f588da325deb326ba3bc5759684">
  <xsd:schema xmlns:xsd="http://www.w3.org/2001/XMLSchema" xmlns:xs="http://www.w3.org/2001/XMLSchema" xmlns:p="http://schemas.microsoft.com/office/2006/metadata/properties" xmlns:ns2="3fdd4eb4-493c-48cf-bddf-25f1a88be6fa" xmlns:ns3="5c9c8bf9-0949-40aa-b44c-7e98f82af279" targetNamespace="http://schemas.microsoft.com/office/2006/metadata/properties" ma:root="true" ma:fieldsID="dd2986408f834087e1d4fc90f4300009" ns2:_="" ns3:_="">
    <xsd:import namespace="3fdd4eb4-493c-48cf-bddf-25f1a88be6fa"/>
    <xsd:import namespace="5c9c8bf9-0949-40aa-b44c-7e98f82af2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dd4eb4-493c-48cf-bddf-25f1a88be6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5cd9f51-4d1e-4d57-bf3d-f118fc5c80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9c8bf9-0949-40aa-b44c-7e98f82af27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d44ef86-d410-4aab-9776-f81bc4fb9d14}" ma:internalName="TaxCatchAll" ma:showField="CatchAllData" ma:web="5c9c8bf9-0949-40aa-b44c-7e98f82af2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c9c8bf9-0949-40aa-b44c-7e98f82af279" xsi:nil="true"/>
    <lcf76f155ced4ddcb4097134ff3c332f xmlns="3fdd4eb4-493c-48cf-bddf-25f1a88be6fa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BE2C60E-3628-407A-858B-2C7C028DE12B}">
  <ds:schemaRefs/>
</ds:datastoreItem>
</file>

<file path=customXml/itemProps2.xml><?xml version="1.0" encoding="utf-8"?>
<ds:datastoreItem xmlns:ds="http://schemas.openxmlformats.org/officeDocument/2006/customXml" ds:itemID="{A789158E-B27D-4A14-8D7F-900788E03765}">
  <ds:schemaRefs/>
</ds:datastoreItem>
</file>

<file path=customXml/itemProps3.xml><?xml version="1.0" encoding="utf-8"?>
<ds:datastoreItem xmlns:ds="http://schemas.openxmlformats.org/officeDocument/2006/customXml" ds:itemID="{1D1E13A5-8F63-48B3-92D6-018A83981B26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7449</Words>
  <Application>WPS Presentation</Application>
  <PresentationFormat>Widescreen</PresentationFormat>
  <Paragraphs>121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5" baseType="lpstr">
      <vt:lpstr>Arial</vt:lpstr>
      <vt:lpstr>SimSun</vt:lpstr>
      <vt:lpstr>Wingdings</vt:lpstr>
      <vt:lpstr>Neue Haas Grotesk Text Pro</vt:lpstr>
      <vt:lpstr>Yu Gothic UI</vt:lpstr>
      <vt:lpstr>Arial</vt:lpstr>
      <vt:lpstr>Calibri</vt:lpstr>
      <vt:lpstr>DejaVu Sans</vt:lpstr>
      <vt:lpstr>Calibri</vt:lpstr>
      <vt:lpstr>Palatino Linotype</vt:lpstr>
      <vt:lpstr>Calibri Light</vt:lpstr>
      <vt:lpstr>Times New Roman</vt:lpstr>
      <vt:lpstr>Microsoft YaHei</vt:lpstr>
      <vt:lpstr>Arial Unicode MS</vt:lpstr>
      <vt:lpstr>DylanVTI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Algoritmi Paraleli</dc:title>
  <dc:creator>Andrei Patrascu</dc:creator>
  <cp:lastModifiedBy>ionga</cp:lastModifiedBy>
  <cp:revision>137</cp:revision>
  <dcterms:created xsi:type="dcterms:W3CDTF">2021-03-01T13:17:00Z</dcterms:created>
  <dcterms:modified xsi:type="dcterms:W3CDTF">2026-01-13T23:42:16Z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ntentTypeId">
    <vt:lpwstr>0x010100416B40607B74BC429BA29107EE76F9BC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Widescreen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8</vt:i4>
  </property>
  <property fmtid="{D5CDD505-2E9C-101B-9397-08002B2CF9AE}" pid="13" name="MediaServiceImageTags">
    <vt:lpwstr/>
  </property>
  <property fmtid="{D5CDD505-2E9C-101B-9397-08002B2CF9AE}" pid="14" name="ICV">
    <vt:lpwstr>F18E5E5085B8427E84D60EB8AA9CAC1B_12</vt:lpwstr>
  </property>
  <property fmtid="{D5CDD505-2E9C-101B-9397-08002B2CF9AE}" pid="15" name="KSOProductBuildVer">
    <vt:lpwstr>2057-12.2.0.23196</vt:lpwstr>
  </property>
</Properties>
</file>